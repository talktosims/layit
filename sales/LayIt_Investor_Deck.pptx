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LayIt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Projection Platform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137160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exact tile layout. Projected by laser. Guided by vision.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$148 Billion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surface installation markets still rely on chalk lines, tape measures, and eyeballing.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669280" y="1188720"/>
            <a:ext cx="3108960" cy="100584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0" y="1188720"/>
            <a:ext cx="54864" cy="10058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12618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0" y="1645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 tile installer's time is spent measuring and cutting — not installing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0" y="2377440"/>
            <a:ext cx="3108960" cy="100584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0" y="2377440"/>
            <a:ext cx="54864" cy="10058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24505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15-20%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943600" y="2834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waste from imprecise layouts (industry average)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3566160"/>
            <a:ext cx="3108960" cy="100584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0" y="3566160"/>
            <a:ext cx="54864" cy="10058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36393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943600" y="4023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affordable laser layout tools exist for tile — until now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560320" cy="320040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256032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COMPUTE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calculates every tile position, cut dimension, and grout line for any pattern — herringbone, hex, brick, grid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20440" y="1188720"/>
            <a:ext cx="2560320" cy="320040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20440" y="1188720"/>
            <a:ext cx="256032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703320" y="201168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200mW green laser projects the exact layout onto floors, walls, and ceilings with automatic keystone correction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188720"/>
            <a:ext cx="2560320" cy="320040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188720"/>
            <a:ext cx="256032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ALIGN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92240" y="201168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On-board camera watches tiles as you place them — self-calibrates using placed tile edges, gets MORE precise over time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Line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347472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36576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LayIt Laser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FLAGSHIP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$499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005840" y="27432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200mW green laser (Class 3B)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Dual-axis galvanometer projection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Auto-calibration camera (OV5640)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USB-C PD powered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 + BLE connectivity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38-53% gross margin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657600" cy="347472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36576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LayIt Laser Pro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2920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CORDLESS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2103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$649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029200" y="27432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Flagship, plus: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Swappable 3S LiPo battery packs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batteries included (1.5-2hr each)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cord/battery switchover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level indicator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38-55% gross margin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App — Free + Pro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347472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 with every unit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tile layout tool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patterns &amp; shapes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Wall/floor perimeter drawing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Void/niche management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count + waste 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Save/load projects locally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projection control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DXF / SVG / JSON export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347472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 — $14.99/mo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price. No tiers.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Barcode scanner + auto-populate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sync across devices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room scan (no LiDAR)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sharing with clients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cost tracking + invoicing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support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access to new features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Revenue Streams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2560320" cy="173736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256032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Sales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554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$499-649/unit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40-55% margins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units → $2.75M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1097280"/>
            <a:ext cx="2560320" cy="173736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097280"/>
            <a:ext cx="256032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Subscriptions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1554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$14.99/mo Pro tier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conversion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subs → $360K ARR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097280"/>
            <a:ext cx="2560320" cy="173736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097280"/>
            <a:ext cx="256032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 Rentals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1554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$49/weekend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$99/week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652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units → $120-240K/yr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063240"/>
            <a:ext cx="2560320" cy="173736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063240"/>
            <a:ext cx="256032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 &amp; Trade Schools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3520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$2.5-5K/yr licenses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member subs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4251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institutions → $369K/yr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20440" y="3063240"/>
            <a:ext cx="2560320" cy="173736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520440" y="3063240"/>
            <a:ext cx="256032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Program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57600" y="3520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$399/unit bulk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$7.99/seat + dashboard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0" y="4251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companies → $307K/yr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3063240"/>
            <a:ext cx="2560320" cy="173736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3063240"/>
            <a:ext cx="256032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 Partners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46520" y="3520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listings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licensing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46520" y="4251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brands → $200K/yr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 3 Projections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2560320" cy="128016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$4.1-4.5M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20440" y="1097280"/>
            <a:ext cx="2560320" cy="128016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$1.4M+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2044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ARR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097280"/>
            <a:ext cx="2560320" cy="128016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$27-32M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0936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(15x ARR)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743200"/>
          <a:ext cx="76809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92024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Revenue Stream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Annual Revenue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7D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</a:rPr>
                        <a:t>Hardware sales (5,000 units)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61B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</a:rPr>
                        <a:t>$2.75M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61B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</a:rPr>
                        <a:t>One-time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61B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C21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</a:rPr>
                        <a:t>App Pro subscriptions (2,000)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61B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</a:rPr>
                        <a:t>$360K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61B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</a:rPr>
                        <a:t>Recurring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61B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C21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</a:rPr>
                        <a:t>DIY rentals (100 units)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61B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</a:rPr>
                        <a:t>$120-240K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61B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</a:rPr>
                        <a:t>Recurring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61B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C21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</a:rPr>
                        <a:t>Union/trade school licensing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61B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</a:rPr>
                        <a:t>$369K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61B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</a:rPr>
                        <a:t>Recurring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61B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C21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</a:rPr>
                        <a:t>Contractor fleet program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61B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</a:rPr>
                        <a:t>$307K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61B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</a:rPr>
                        <a:t>Recurring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61B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C21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</a:rPr>
                        <a:t>Manufacturer partnerships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61B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</a:rPr>
                        <a:t>$200K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61B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</a:rPr>
                        <a:t>Recurring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61B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C21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We're Not a Tile Company.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We're a Pattern Projection Platform.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768096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$148B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Addressable Market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12+ applications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2377440"/>
            <a:ext cx="3840480" cy="228600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2377440"/>
            <a:ext cx="54864" cy="22860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256032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new market is a software update — not a new product.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Near-zero marginal cost to expand into new verticals.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$499 hardware. Same subscription. Tile is just the beachhead.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12+ Markets, One Device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Ceramic Tile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MARKET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88920" y="1097280"/>
            <a:ext cx="1828800" cy="109728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8892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Hardwood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889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$28B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1828800" cy="109728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Vinyl (LVP)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$12B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903720" y="1097280"/>
            <a:ext cx="1828800" cy="109728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Brick &amp; Pavers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037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31520" y="2423160"/>
            <a:ext cx="1828800" cy="109728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Stone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$5B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2788920" y="2423160"/>
            <a:ext cx="1828800" cy="109728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8892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Ceiling Tile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8892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$3B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846320" y="2423160"/>
            <a:ext cx="1828800" cy="109728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Wallpaper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$3B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903720" y="2423160"/>
            <a:ext cx="1828800" cy="109728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0372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Carpet Tile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0372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731520" y="3749040"/>
            <a:ext cx="1828800" cy="109728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152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Panels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$30B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2788920" y="3749040"/>
            <a:ext cx="1828800" cy="109728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78892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Drywall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78892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$15B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4846320" y="3749040"/>
            <a:ext cx="1828800" cy="109728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4632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Cabinets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4632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$20B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6903720" y="3749040"/>
            <a:ext cx="1828800" cy="109728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90372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Insulation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0372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$10B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Future: LayIt CutStation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tile cutting, driven by LayIt software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554480" cy="137160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computes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cuts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1371600"/>
            <a:ext cx="1554480" cy="137160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9456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194560" y="19202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queue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screen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31920" y="1371600"/>
            <a:ext cx="1554480" cy="137160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3192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931920" y="19202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tile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brackets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1371600"/>
            <a:ext cx="1554480" cy="137160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669280" y="19202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'Cut'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goes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06640" y="1371600"/>
            <a:ext cx="1554480" cy="137160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0664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406640" y="19202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away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last tile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017520"/>
            <a:ext cx="7680960" cy="164592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017520"/>
            <a:ext cx="768096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200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$60M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1005840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opportunity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0" y="32004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300,000+ tile contractors in the US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$2-5K/year on cutting equipment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software to CNC manufacturers — they build, we brain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Curves, plumbing holes, hex slivers — cuts a wet saw can't make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IP Protection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749040" cy="347472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374904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#1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Camera-Based Room Measurement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Tile Layout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 Claims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transformer depth estimation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anomaly detection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Constraint-aware auto-correction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LiDAR, no stereo, no vanishing points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3749040" cy="347472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97280"/>
            <a:ext cx="374904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#2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600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Laser Projection Tile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Installation System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2194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 Claims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029200" y="26517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Tile-specific pattern computation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Placed-tile vision alignment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Grout line projection with cut management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Marker-free self-reinforcing calibration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total claims  |  Prior art differentiation documented against 5 existing patents  |  20-year protection through 2046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Team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320040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32004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Robert Sims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2860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Paint contractor and DIYer who didn't want to call his buddy to tile his bathroom — so he built a laser that does it for anyone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expertise in tile installation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+ software development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inventor (2 provisionals filed)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design &amp; prototyping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657600" cy="320040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54864" cy="32004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Hires Needed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12064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Stage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22860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Systems Engineer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/ PWA Developer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 / ML Engineer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Partnerships (trade shows)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&amp; Manufacturing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Ask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[$ Amount]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7680960" cy="41148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2377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production run (500 units)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40880" y="23774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880360"/>
            <a:ext cx="768096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28803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firmware + app development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40880" y="28803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383280"/>
            <a:ext cx="7680960" cy="41148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&amp; Legal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3383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 patent filing + trademark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40880" y="33832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3886200"/>
            <a:ext cx="768096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886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38862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shows (TISE, Coverings) + partnerships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40880" y="38862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4389120"/>
            <a:ext cx="7680960" cy="41148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389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4389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Inventory, fulfillment, support setup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40880" y="4389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LayIt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new market is a software update.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new product.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 Sims  |  talktosims@gmail.com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March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LayIt Laser — Investor Deck</dc:title>
  <dc:subject>PptxGenJS Presentation</dc:subject>
  <dc:creator>LayIt Laser</dc:creator>
  <cp:lastModifiedBy>LayIt Laser</cp:lastModifiedBy>
  <cp:revision>1</cp:revision>
  <dcterms:created xsi:type="dcterms:W3CDTF">2026-03-15T20:43:35Z</dcterms:created>
  <dcterms:modified xsi:type="dcterms:W3CDTF">2026-03-15T20:43:35Z</dcterms:modified>
</cp:coreProperties>
</file>